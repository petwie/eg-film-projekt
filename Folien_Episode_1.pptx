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500D"/>
    <a:srgbClr val="B81A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77"/>
    <p:restoredTop sz="94366"/>
  </p:normalViewPr>
  <p:slideViewPr>
    <p:cSldViewPr snapToGrid="0">
      <p:cViewPr>
        <p:scale>
          <a:sx n="74" d="100"/>
          <a:sy n="74" d="100"/>
        </p:scale>
        <p:origin x="904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7AD9A-544D-6CBF-0F8F-2230C5B2B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3A662-87C3-C54E-7FB4-DC2719C35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2DAFF-3926-CEEF-DF91-076E095B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9A5-0D42-6143-A87E-C8B46A9AC90B}" type="datetimeFigureOut">
              <a:rPr lang="en-DE" smtClean="0"/>
              <a:t>16.06.26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B3664-19FC-3B6C-C57B-EFB6714AD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05082-5CEA-F24E-EDD8-E08610DF3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A387-F532-FF4C-9164-D7DD534E6E2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67235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B99B-288F-C48D-32B3-A2A8CD4DD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AEA0C-8382-5FCA-8DD9-DF321795B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D372F-3043-25D6-A5D5-56302B44F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9A5-0D42-6143-A87E-C8B46A9AC90B}" type="datetimeFigureOut">
              <a:rPr lang="en-DE" smtClean="0"/>
              <a:t>16.06.26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E7266-277A-A266-A0F8-A28F55246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285F2-8F45-0699-4116-18DE907F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A387-F532-FF4C-9164-D7DD534E6E2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45201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3F999-4F69-317D-3614-2D0B61233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BA0BA-1E74-9969-737E-FEA7136DD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1F362-EC05-41A4-BA64-3F00DAF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9A5-0D42-6143-A87E-C8B46A9AC90B}" type="datetimeFigureOut">
              <a:rPr lang="en-DE" smtClean="0"/>
              <a:t>16.06.26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F99E6-FA11-8B25-406D-1B68C0580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D0544-4D40-8234-C133-F7F016D87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A387-F532-FF4C-9164-D7DD534E6E2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1473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1864A-41CF-9E30-AC49-7273FE80C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22792-E737-CA3A-7BD4-91F04D0283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73424-38E6-9967-879A-2C37FBA1D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454E5-EFAD-565F-3E26-961D727CF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9A5-0D42-6143-A87E-C8B46A9AC90B}" type="datetimeFigureOut">
              <a:rPr lang="en-DE" smtClean="0"/>
              <a:t>16.06.26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DF8B4-7353-E970-B60F-A93E36D72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CCB30-5239-EEC5-ECCA-EE46D21CA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A387-F532-FF4C-9164-D7DD534E6E2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25981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30822-2993-6ED5-0E40-12609B741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A9937-917B-C44A-9D05-674EA45B4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EDC2B-62DE-FFD6-4973-8864A6F69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F78B4B-C900-1A0A-4A44-ECCC78460D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69F62-9E14-318C-78EE-0EF526728B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BF23C-4CD7-FF7C-19B3-D184CBAC8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9A5-0D42-6143-A87E-C8B46A9AC90B}" type="datetimeFigureOut">
              <a:rPr lang="en-DE" smtClean="0"/>
              <a:t>16.06.26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57EBC2-A059-8C33-C3B2-714B2E1A2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6DA38A-79DD-99AB-6B13-ADA9831C0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A387-F532-FF4C-9164-D7DD534E6E2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8188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93F99-3700-BFDC-749C-FB218C74B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3A26E-599D-3EB2-EB9B-81441F95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9A5-0D42-6143-A87E-C8B46A9AC90B}" type="datetimeFigureOut">
              <a:rPr lang="en-DE" smtClean="0"/>
              <a:t>16.06.26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17E71-4E89-0EF1-0952-699085514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48F6B4-3A70-43FB-FE57-43402B51D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A387-F532-FF4C-9164-D7DD534E6E2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80749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1BF715-4C2F-2E57-2742-7B8279E9A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9A5-0D42-6143-A87E-C8B46A9AC90B}" type="datetimeFigureOut">
              <a:rPr lang="en-DE" smtClean="0"/>
              <a:t>16.06.26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DCC0C6-D524-F9BB-D790-B4222110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D42B9-CC83-64CD-BF95-E61C3BDC7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A387-F532-FF4C-9164-D7DD534E6E2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09974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8A835-F500-FDDC-994E-F38C64F63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8BD9F-D6F7-6797-B3A8-96D23771E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3F1EF-7CC0-D37F-037F-1EB822E3B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8A36B-C406-F0C0-71E9-61839DC6F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9A5-0D42-6143-A87E-C8B46A9AC90B}" type="datetimeFigureOut">
              <a:rPr lang="en-DE" smtClean="0"/>
              <a:t>16.06.26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79F3C-5F21-D8B3-BB64-578D86020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1C2A8-B565-C1E0-A573-2204C7B6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A387-F532-FF4C-9164-D7DD534E6E2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6639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F8A2-65CC-AC67-DD2F-81ED29BE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8236A8-B9D5-E1A5-0D28-F5335F117E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80660-4CA3-DB20-0E05-FAE9E6566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50CD9-54E0-957F-3C31-AE550B093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9A5-0D42-6143-A87E-C8B46A9AC90B}" type="datetimeFigureOut">
              <a:rPr lang="en-DE" smtClean="0"/>
              <a:t>16.06.26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09782-4B41-3158-224B-5CFBC6C51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91F7B-5A9D-EA29-68A8-584BA4CC1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A387-F532-FF4C-9164-D7DD534E6E2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45498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2934-A814-CF7B-68E9-7B0C944EA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E285D-AA76-E9A6-7492-BD15438CB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E71D4-DC34-EDB7-A824-925B9820E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9A5-0D42-6143-A87E-C8B46A9AC90B}" type="datetimeFigureOut">
              <a:rPr lang="en-DE" smtClean="0"/>
              <a:t>16.06.26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3C1DC-66F3-5898-42DE-71834180A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5BE33-65E2-34C9-04E8-9AAE3E8D8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A387-F532-FF4C-9164-D7DD534E6E2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30260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6F2470-55EF-7D3C-76AA-AE129488F8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715C4-19AD-4237-0E95-6C590F0A8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3972D-7E01-7BCD-C743-7986C87F9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99A5-0D42-6143-A87E-C8B46A9AC90B}" type="datetimeFigureOut">
              <a:rPr lang="en-DE" smtClean="0"/>
              <a:t>16.06.26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8CAB7-9F1F-4069-D9FC-B8E57139E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B1DD8-E462-3D61-A7EB-1C61B13A0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A387-F532-FF4C-9164-D7DD534E6E2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9484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A8765B-5EA3-5C51-ED5A-0CA585A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16521-0818-E7D5-94E6-0CBC7CFEE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CC513-1ECF-6303-9345-2B3E314DE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899A5-0D42-6143-A87E-C8B46A9AC90B}" type="datetimeFigureOut">
              <a:rPr lang="en-DE" smtClean="0"/>
              <a:t>16.06.26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7B841-6331-945D-5219-9DA7D2511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44514-6C52-9709-2B21-06712DF10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B2A387-F532-FF4C-9164-D7DD534E6E2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27878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BF257B4-D95E-96D6-4F84-E813D3977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9847" y="6031687"/>
            <a:ext cx="1273356" cy="7443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6B4870-9F1F-4A8F-6A3C-BE6409FCB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61069"/>
            <a:ext cx="9144000" cy="1120207"/>
          </a:xfrm>
        </p:spPr>
        <p:txBody>
          <a:bodyPr>
            <a:normAutofit/>
          </a:bodyPr>
          <a:lstStyle/>
          <a:p>
            <a:r>
              <a:rPr lang="en-DE" sz="4000" dirty="0"/>
              <a:t>Wie läuft das Praktikum ab?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6061BD-9FD4-A14C-7AA4-D8132DC6026C}"/>
              </a:ext>
            </a:extLst>
          </p:cNvPr>
          <p:cNvSpPr/>
          <p:nvPr/>
        </p:nvSpPr>
        <p:spPr>
          <a:xfrm>
            <a:off x="1392000" y="-33777"/>
            <a:ext cx="3600000" cy="90000"/>
          </a:xfrm>
          <a:prstGeom prst="rect">
            <a:avLst/>
          </a:prstGeom>
          <a:solidFill>
            <a:srgbClr val="B81A1F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4814B3-4750-02DC-0AD5-FEB4392DB378}"/>
              </a:ext>
            </a:extLst>
          </p:cNvPr>
          <p:cNvSpPr/>
          <p:nvPr/>
        </p:nvSpPr>
        <p:spPr>
          <a:xfrm>
            <a:off x="4992000" y="-33118"/>
            <a:ext cx="3600000" cy="90000"/>
          </a:xfrm>
          <a:prstGeom prst="rect">
            <a:avLst/>
          </a:prstGeom>
          <a:solidFill>
            <a:srgbClr val="E9500D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accent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F778AC-1817-7B4C-43A6-28F9EBE5E15A}"/>
              </a:ext>
            </a:extLst>
          </p:cNvPr>
          <p:cNvSpPr/>
          <p:nvPr/>
        </p:nvSpPr>
        <p:spPr>
          <a:xfrm>
            <a:off x="8592000" y="-33777"/>
            <a:ext cx="3600000" cy="90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4264785-D88F-13FB-B609-CBF119ACCF77}"/>
              </a:ext>
            </a:extLst>
          </p:cNvPr>
          <p:cNvCxnSpPr>
            <a:cxnSpLocks/>
          </p:cNvCxnSpPr>
          <p:nvPr/>
        </p:nvCxnSpPr>
        <p:spPr>
          <a:xfrm>
            <a:off x="1499140" y="5747189"/>
            <a:ext cx="10668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41D9AF5-9F72-C946-CB2D-23CD440D1E57}"/>
              </a:ext>
            </a:extLst>
          </p:cNvPr>
          <p:cNvSpPr txBox="1"/>
          <p:nvPr/>
        </p:nvSpPr>
        <p:spPr>
          <a:xfrm>
            <a:off x="858247" y="1320390"/>
            <a:ext cx="577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err="1"/>
              <a:t>Drei</a:t>
            </a:r>
            <a:r>
              <a:rPr lang="en-GB" sz="2000" dirty="0"/>
              <a:t> </a:t>
            </a:r>
            <a:r>
              <a:rPr lang="en-GB" sz="2000" dirty="0" err="1"/>
              <a:t>Versuche</a:t>
            </a:r>
            <a:r>
              <a:rPr lang="en-GB" sz="2000" dirty="0"/>
              <a:t> – </a:t>
            </a:r>
            <a:r>
              <a:rPr lang="en-GB" sz="2000" dirty="0" err="1"/>
              <a:t>vom</a:t>
            </a:r>
            <a:r>
              <a:rPr lang="en-GB" sz="2000" dirty="0"/>
              <a:t> </a:t>
            </a:r>
            <a:r>
              <a:rPr lang="en-GB" sz="2000" dirty="0" err="1"/>
              <a:t>Grundgesetz</a:t>
            </a:r>
            <a:r>
              <a:rPr lang="en-GB" sz="2000" dirty="0"/>
              <a:t> bis </a:t>
            </a:r>
            <a:r>
              <a:rPr lang="en-GB" sz="2000" dirty="0" err="1"/>
              <a:t>zum</a:t>
            </a:r>
            <a:r>
              <a:rPr lang="en-GB" sz="2000" dirty="0"/>
              <a:t> </a:t>
            </a:r>
            <a:r>
              <a:rPr lang="en-GB" sz="2000" dirty="0" err="1"/>
              <a:t>Oszilloskop</a:t>
            </a:r>
            <a:r>
              <a:rPr lang="en-GB" sz="2000" dirty="0"/>
              <a:t>.</a:t>
            </a:r>
            <a:endParaRPr lang="en-DE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693D84-52DC-DEE2-6FDF-386E339A1EC5}"/>
              </a:ext>
            </a:extLst>
          </p:cNvPr>
          <p:cNvSpPr txBox="1"/>
          <p:nvPr/>
        </p:nvSpPr>
        <p:spPr>
          <a:xfrm>
            <a:off x="564548" y="3469375"/>
            <a:ext cx="318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Strom, Spannung, Widerstand</a:t>
            </a:r>
          </a:p>
          <a:p>
            <a:r>
              <a:rPr lang="en-GB" dirty="0" err="1"/>
              <a:t>Grundgrößen</a:t>
            </a:r>
            <a:r>
              <a:rPr lang="en-GB" dirty="0"/>
              <a:t> </a:t>
            </a:r>
            <a:r>
              <a:rPr lang="en-GB" dirty="0" err="1"/>
              <a:t>messen</a:t>
            </a:r>
            <a:r>
              <a:rPr lang="en-GB" dirty="0"/>
              <a:t> und verstehen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DBD1D8-2663-0D46-2D52-518051BE73E9}"/>
              </a:ext>
            </a:extLst>
          </p:cNvPr>
          <p:cNvSpPr txBox="1"/>
          <p:nvPr/>
        </p:nvSpPr>
        <p:spPr>
          <a:xfrm>
            <a:off x="4831653" y="3387536"/>
            <a:ext cx="318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Messen nichtlineare Widerstände </a:t>
            </a:r>
          </a:p>
          <a:p>
            <a:r>
              <a:rPr lang="en-GB" dirty="0" err="1"/>
              <a:t>Dioden</a:t>
            </a:r>
            <a:r>
              <a:rPr lang="en-GB" dirty="0"/>
              <a:t>, NTC/PTC und </a:t>
            </a:r>
            <a:r>
              <a:rPr lang="en-GB" dirty="0" err="1"/>
              <a:t>Kennlinien</a:t>
            </a:r>
            <a:r>
              <a:rPr lang="en-GB" dirty="0"/>
              <a:t> </a:t>
            </a:r>
            <a:r>
              <a:rPr lang="en-GB" dirty="0" err="1"/>
              <a:t>untersuchen</a:t>
            </a:r>
            <a:endParaRPr lang="en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800D58-D593-755E-DE69-4939349DDEE6}"/>
              </a:ext>
            </a:extLst>
          </p:cNvPr>
          <p:cNvSpPr txBox="1"/>
          <p:nvPr/>
        </p:nvSpPr>
        <p:spPr>
          <a:xfrm>
            <a:off x="8904487" y="3328492"/>
            <a:ext cx="32626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Messen zeitlichveränderlichen Größen</a:t>
            </a:r>
          </a:p>
          <a:p>
            <a:r>
              <a:rPr lang="en-GB" dirty="0" err="1"/>
              <a:t>Kondensatoren</a:t>
            </a:r>
            <a:r>
              <a:rPr lang="en-GB" dirty="0"/>
              <a:t>, Filter und </a:t>
            </a:r>
            <a:r>
              <a:rPr lang="en-GB" dirty="0" err="1"/>
              <a:t>Oszilloskop</a:t>
            </a:r>
            <a:endParaRPr lang="en-DE" dirty="0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DFACBAA1-73B0-B4F0-E878-C66F5B234A38}"/>
              </a:ext>
            </a:extLst>
          </p:cNvPr>
          <p:cNvSpPr/>
          <p:nvPr/>
        </p:nvSpPr>
        <p:spPr>
          <a:xfrm>
            <a:off x="3744547" y="3729199"/>
            <a:ext cx="693750" cy="362837"/>
          </a:xfrm>
          <a:prstGeom prst="rightArrow">
            <a:avLst/>
          </a:prstGeom>
          <a:solidFill>
            <a:srgbClr val="E9500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DC3A5799-4151-6272-4964-283FA5311DA8}"/>
              </a:ext>
            </a:extLst>
          </p:cNvPr>
          <p:cNvSpPr/>
          <p:nvPr/>
        </p:nvSpPr>
        <p:spPr>
          <a:xfrm>
            <a:off x="7857319" y="3653956"/>
            <a:ext cx="693750" cy="362837"/>
          </a:xfrm>
          <a:prstGeom prst="rightArrow">
            <a:avLst/>
          </a:prstGeom>
          <a:solidFill>
            <a:srgbClr val="E9500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25" name="Graphic 24" descr="Badge 1 with solid fill">
            <a:extLst>
              <a:ext uri="{FF2B5EF4-FFF2-40B4-BE49-F238E27FC236}">
                <a16:creationId xmlns:a16="http://schemas.microsoft.com/office/drawing/2014/main" id="{7C202171-DF5D-B351-125C-1024FEBE51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00604" y="2481315"/>
            <a:ext cx="931748" cy="931748"/>
          </a:xfrm>
          <a:prstGeom prst="rect">
            <a:avLst/>
          </a:prstGeom>
        </p:spPr>
      </p:pic>
      <p:pic>
        <p:nvPicPr>
          <p:cNvPr id="27" name="Graphic 26" descr="Badge with solid fill">
            <a:extLst>
              <a:ext uri="{FF2B5EF4-FFF2-40B4-BE49-F238E27FC236}">
                <a16:creationId xmlns:a16="http://schemas.microsoft.com/office/drawing/2014/main" id="{76D6D0C3-ED5C-A4F6-D296-0AA83F42B5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01393" y="2378706"/>
            <a:ext cx="931747" cy="931747"/>
          </a:xfrm>
          <a:prstGeom prst="rect">
            <a:avLst/>
          </a:prstGeom>
        </p:spPr>
      </p:pic>
      <p:pic>
        <p:nvPicPr>
          <p:cNvPr id="31" name="Graphic 30" descr="Badge 3 with solid fill">
            <a:extLst>
              <a:ext uri="{FF2B5EF4-FFF2-40B4-BE49-F238E27FC236}">
                <a16:creationId xmlns:a16="http://schemas.microsoft.com/office/drawing/2014/main" id="{3FBEED0A-4384-1306-8C29-7C4CD647D3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51778" y="2378705"/>
            <a:ext cx="931749" cy="93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259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69ACF77E-D9CC-1B7F-1098-E0A15FCDD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88" y="2515408"/>
            <a:ext cx="4234080" cy="22493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218C26-0C47-CD82-2DFC-1ECD416FA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527" y="59605"/>
            <a:ext cx="10515600" cy="1325563"/>
          </a:xfrm>
        </p:spPr>
        <p:txBody>
          <a:bodyPr/>
          <a:lstStyle/>
          <a:p>
            <a:r>
              <a:rPr lang="en-DE" sz="4000" dirty="0"/>
              <a:t>Zeitlicher</a:t>
            </a:r>
            <a:r>
              <a:rPr lang="en-DE" dirty="0"/>
              <a:t> Ablauf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8D8948-DF39-20B5-5B55-9267D02A5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847" y="6031687"/>
            <a:ext cx="1273356" cy="7443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B89C8F8-B647-D4F1-C92B-BDAB195FEE7B}"/>
              </a:ext>
            </a:extLst>
          </p:cNvPr>
          <p:cNvSpPr/>
          <p:nvPr/>
        </p:nvSpPr>
        <p:spPr>
          <a:xfrm>
            <a:off x="1392000" y="-33777"/>
            <a:ext cx="3600000" cy="90000"/>
          </a:xfrm>
          <a:prstGeom prst="rect">
            <a:avLst/>
          </a:prstGeom>
          <a:solidFill>
            <a:srgbClr val="B81A1F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FD8468-4555-46BE-5DD4-152C8CB29B86}"/>
              </a:ext>
            </a:extLst>
          </p:cNvPr>
          <p:cNvSpPr/>
          <p:nvPr/>
        </p:nvSpPr>
        <p:spPr>
          <a:xfrm>
            <a:off x="4992000" y="-33118"/>
            <a:ext cx="3600000" cy="90000"/>
          </a:xfrm>
          <a:prstGeom prst="rect">
            <a:avLst/>
          </a:prstGeom>
          <a:solidFill>
            <a:srgbClr val="E9500D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accent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CD8A58-65F4-1186-4067-F4A3E95E6A50}"/>
              </a:ext>
            </a:extLst>
          </p:cNvPr>
          <p:cNvSpPr/>
          <p:nvPr/>
        </p:nvSpPr>
        <p:spPr>
          <a:xfrm>
            <a:off x="8592000" y="-33777"/>
            <a:ext cx="3600000" cy="90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B7F811-F48D-7A9C-F486-D6A43301E63B}"/>
              </a:ext>
            </a:extLst>
          </p:cNvPr>
          <p:cNvCxnSpPr>
            <a:cxnSpLocks/>
          </p:cNvCxnSpPr>
          <p:nvPr/>
        </p:nvCxnSpPr>
        <p:spPr>
          <a:xfrm>
            <a:off x="1524000" y="5885211"/>
            <a:ext cx="10668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92D497B-21C8-2B18-F76F-1FE1E2948376}"/>
              </a:ext>
            </a:extLst>
          </p:cNvPr>
          <p:cNvSpPr txBox="1"/>
          <p:nvPr/>
        </p:nvSpPr>
        <p:spPr>
          <a:xfrm>
            <a:off x="4866968" y="51914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CBC3EA-F84F-9051-912F-EAD8E24C97A7}"/>
              </a:ext>
            </a:extLst>
          </p:cNvPr>
          <p:cNvSpPr txBox="1"/>
          <p:nvPr/>
        </p:nvSpPr>
        <p:spPr>
          <a:xfrm>
            <a:off x="378540" y="1252778"/>
            <a:ext cx="5432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DE" dirty="0"/>
              <a:t>Im PSSO anmelden</a:t>
            </a:r>
          </a:p>
          <a:p>
            <a:r>
              <a:rPr lang="en-GB" dirty="0" err="1"/>
              <a:t>Anmeldung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Prüfungsleistung</a:t>
            </a:r>
            <a:r>
              <a:rPr lang="en-GB" dirty="0"/>
              <a:t> </a:t>
            </a:r>
            <a:r>
              <a:rPr lang="en-GB" dirty="0" err="1"/>
              <a:t>unbenotet</a:t>
            </a:r>
            <a:r>
              <a:rPr lang="en-GB" dirty="0"/>
              <a:t> </a:t>
            </a:r>
          </a:p>
          <a:p>
            <a:r>
              <a:rPr lang="en-GB" dirty="0" err="1"/>
              <a:t>Ergebnis</a:t>
            </a:r>
            <a:r>
              <a:rPr lang="en-GB" dirty="0"/>
              <a:t>: </a:t>
            </a:r>
            <a:r>
              <a:rPr lang="en-GB" dirty="0" err="1"/>
              <a:t>bestanden</a:t>
            </a:r>
            <a:r>
              <a:rPr lang="en-GB" dirty="0"/>
              <a:t> / </a:t>
            </a:r>
            <a:r>
              <a:rPr lang="en-GB" dirty="0" err="1"/>
              <a:t>nicht</a:t>
            </a:r>
            <a:r>
              <a:rPr lang="en-GB" dirty="0"/>
              <a:t> </a:t>
            </a:r>
            <a:r>
              <a:rPr lang="en-GB" dirty="0" err="1"/>
              <a:t>bestanden</a:t>
            </a:r>
            <a:endParaRPr lang="en-DE" dirty="0"/>
          </a:p>
        </p:txBody>
      </p:sp>
      <p:pic>
        <p:nvPicPr>
          <p:cNvPr id="24" name="Graphic 23" descr="Exclamation mark with solid fill">
            <a:extLst>
              <a:ext uri="{FF2B5EF4-FFF2-40B4-BE49-F238E27FC236}">
                <a16:creationId xmlns:a16="http://schemas.microsoft.com/office/drawing/2014/main" id="{D5FE65A5-C337-C932-4648-F2135FFCCA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64107" y="1100242"/>
            <a:ext cx="523568" cy="52356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93DA524-7701-AFAA-4A36-5B37941241A6}"/>
              </a:ext>
            </a:extLst>
          </p:cNvPr>
          <p:cNvSpPr txBox="1"/>
          <p:nvPr/>
        </p:nvSpPr>
        <p:spPr>
          <a:xfrm>
            <a:off x="6317866" y="1061068"/>
            <a:ext cx="3745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2. </a:t>
            </a:r>
            <a:r>
              <a:rPr lang="en-GB" dirty="0" err="1"/>
              <a:t>Praktikumstermine</a:t>
            </a:r>
            <a:r>
              <a:rPr lang="en-GB" dirty="0"/>
              <a:t> </a:t>
            </a:r>
            <a:r>
              <a:rPr lang="en-GB" dirty="0" err="1"/>
              <a:t>anmelden</a:t>
            </a:r>
            <a:r>
              <a:rPr lang="en-GB" dirty="0"/>
              <a:t>.</a:t>
            </a:r>
          </a:p>
          <a:p>
            <a:r>
              <a:rPr lang="en-GB" dirty="0"/>
              <a:t>Je </a:t>
            </a:r>
            <a:r>
              <a:rPr lang="en-GB" dirty="0" err="1"/>
              <a:t>ein</a:t>
            </a:r>
            <a:r>
              <a:rPr lang="en-GB" dirty="0"/>
              <a:t> </a:t>
            </a:r>
            <a:r>
              <a:rPr lang="en-GB" dirty="0" err="1"/>
              <a:t>Termin</a:t>
            </a:r>
            <a:r>
              <a:rPr lang="en-GB" dirty="0"/>
              <a:t> für </a:t>
            </a:r>
            <a:r>
              <a:rPr lang="en-GB" dirty="0" err="1"/>
              <a:t>Versuch</a:t>
            </a:r>
            <a:r>
              <a:rPr lang="en-GB" dirty="0"/>
              <a:t> 1, 2 und 3 </a:t>
            </a:r>
            <a:r>
              <a:rPr lang="en-GB" dirty="0" err="1"/>
              <a:t>freie</a:t>
            </a:r>
            <a:r>
              <a:rPr lang="en-GB" dirty="0"/>
              <a:t> </a:t>
            </a:r>
            <a:r>
              <a:rPr lang="en-GB" dirty="0" err="1"/>
              <a:t>Auswahl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EG-</a:t>
            </a:r>
            <a:r>
              <a:rPr lang="en-GB" dirty="0" err="1"/>
              <a:t>Kurs</a:t>
            </a:r>
            <a:r>
              <a:rPr lang="en-GB" dirty="0"/>
              <a:t> </a:t>
            </a:r>
            <a:r>
              <a:rPr lang="en-GB" dirty="0" err="1"/>
              <a:t>keine</a:t>
            </a:r>
            <a:r>
              <a:rPr lang="en-GB" dirty="0"/>
              <a:t> </a:t>
            </a:r>
            <a:r>
              <a:rPr lang="en-GB" dirty="0" err="1"/>
              <a:t>Mehrfacheintragung</a:t>
            </a:r>
            <a:r>
              <a:rPr lang="en-GB" dirty="0"/>
              <a:t>.</a:t>
            </a:r>
            <a:endParaRPr lang="en-DE" dirty="0"/>
          </a:p>
        </p:txBody>
      </p:sp>
      <p:pic>
        <p:nvPicPr>
          <p:cNvPr id="29" name="Graphic 28" descr="Checkbox Ticked with solid fill">
            <a:extLst>
              <a:ext uri="{FF2B5EF4-FFF2-40B4-BE49-F238E27FC236}">
                <a16:creationId xmlns:a16="http://schemas.microsoft.com/office/drawing/2014/main" id="{78445226-57D8-D369-DD0E-05A0D450A3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92000" y="1426415"/>
            <a:ext cx="749693" cy="749693"/>
          </a:xfrm>
          <a:prstGeom prst="rect">
            <a:avLst/>
          </a:prstGeom>
        </p:spPr>
      </p:pic>
      <p:pic>
        <p:nvPicPr>
          <p:cNvPr id="30" name="Graphic 29" descr="Checkbox Ticked with solid fill">
            <a:extLst>
              <a:ext uri="{FF2B5EF4-FFF2-40B4-BE49-F238E27FC236}">
                <a16:creationId xmlns:a16="http://schemas.microsoft.com/office/drawing/2014/main" id="{C7CF3DCC-62F5-2971-4AFE-1136E0C8BB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87416" y="1291786"/>
            <a:ext cx="749693" cy="74969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5BB9A7A-4202-BC7A-BE41-9EF9CCDF31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2261" y="2274337"/>
            <a:ext cx="3476617" cy="276127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1212D20-CFF6-37E3-3BBC-8620ED3EBB5A}"/>
              </a:ext>
            </a:extLst>
          </p:cNvPr>
          <p:cNvSpPr txBox="1"/>
          <p:nvPr/>
        </p:nvSpPr>
        <p:spPr>
          <a:xfrm>
            <a:off x="2480157" y="5179315"/>
            <a:ext cx="8755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Wichtig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Erscheinen</a:t>
            </a:r>
            <a:r>
              <a:rPr lang="en-GB" dirty="0"/>
              <a:t> Sie </a:t>
            </a:r>
            <a:r>
              <a:rPr lang="en-GB" dirty="0" err="1"/>
              <a:t>pünktlich</a:t>
            </a:r>
            <a:r>
              <a:rPr lang="en-GB" dirty="0"/>
              <a:t>. Für </a:t>
            </a:r>
            <a:r>
              <a:rPr lang="en-GB" dirty="0" err="1"/>
              <a:t>jeden</a:t>
            </a:r>
            <a:r>
              <a:rPr lang="en-GB" dirty="0"/>
              <a:t> </a:t>
            </a:r>
            <a:r>
              <a:rPr lang="en-GB" dirty="0" err="1"/>
              <a:t>Versuch</a:t>
            </a:r>
            <a:r>
              <a:rPr lang="en-GB" dirty="0"/>
              <a:t> </a:t>
            </a:r>
            <a:r>
              <a:rPr lang="en-GB" dirty="0" err="1"/>
              <a:t>stehen</a:t>
            </a:r>
            <a:r>
              <a:rPr lang="en-GB" dirty="0"/>
              <a:t> 3 </a:t>
            </a:r>
            <a:r>
              <a:rPr lang="en-GB" dirty="0" err="1"/>
              <a:t>Zeitstunden</a:t>
            </a:r>
            <a:r>
              <a:rPr lang="en-GB" dirty="0"/>
              <a:t> </a:t>
            </a:r>
            <a:r>
              <a:rPr lang="en-GB" dirty="0" err="1"/>
              <a:t>zur</a:t>
            </a:r>
            <a:r>
              <a:rPr lang="en-GB" dirty="0"/>
              <a:t> </a:t>
            </a:r>
            <a:r>
              <a:rPr lang="en-GB" dirty="0" err="1"/>
              <a:t>Verfügung</a:t>
            </a:r>
            <a:r>
              <a:rPr lang="en-GB" dirty="0"/>
              <a:t>. </a:t>
            </a:r>
            <a:r>
              <a:rPr lang="en-GB" dirty="0" err="1"/>
              <a:t>Nicht</a:t>
            </a:r>
            <a:r>
              <a:rPr lang="en-GB" dirty="0"/>
              <a:t> </a:t>
            </a:r>
            <a:r>
              <a:rPr lang="en-GB" dirty="0" err="1"/>
              <a:t>bestandene</a:t>
            </a:r>
            <a:r>
              <a:rPr lang="en-GB" dirty="0"/>
              <a:t> </a:t>
            </a:r>
            <a:r>
              <a:rPr lang="en-GB" dirty="0" err="1"/>
              <a:t>Versuche</a:t>
            </a:r>
            <a:r>
              <a:rPr lang="en-GB" dirty="0"/>
              <a:t> </a:t>
            </a:r>
            <a:r>
              <a:rPr lang="en-GB" dirty="0" err="1"/>
              <a:t>müssen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dirty="0" err="1"/>
              <a:t>Folgejahr</a:t>
            </a:r>
            <a:r>
              <a:rPr lang="en-GB" dirty="0"/>
              <a:t> </a:t>
            </a:r>
            <a:r>
              <a:rPr lang="en-GB" dirty="0" err="1"/>
              <a:t>wiederholt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.</a:t>
            </a:r>
            <a:endParaRPr lang="en-DE" dirty="0"/>
          </a:p>
        </p:txBody>
      </p:sp>
      <p:pic>
        <p:nvPicPr>
          <p:cNvPr id="34" name="Graphic 33" descr="Warning with solid fill">
            <a:extLst>
              <a:ext uri="{FF2B5EF4-FFF2-40B4-BE49-F238E27FC236}">
                <a16:creationId xmlns:a16="http://schemas.microsoft.com/office/drawing/2014/main" id="{1F92B07F-1C51-08CD-CF50-D12CC73FAA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28791" y="5209096"/>
            <a:ext cx="646331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992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47305B9-1107-664B-D69D-6F95D5252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499" y="170942"/>
            <a:ext cx="10515600" cy="1325563"/>
          </a:xfrm>
        </p:spPr>
        <p:txBody>
          <a:bodyPr>
            <a:normAutofit/>
          </a:bodyPr>
          <a:lstStyle/>
          <a:p>
            <a:r>
              <a:rPr lang="en-DE" sz="4000" dirty="0"/>
              <a:t>Welche Vorbereitungen sind nötig?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C23E835-6140-D18D-D2FB-750267F38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9847" y="6031687"/>
            <a:ext cx="1273356" cy="74433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451D442-0FD4-8A14-D62A-55532480776C}"/>
              </a:ext>
            </a:extLst>
          </p:cNvPr>
          <p:cNvSpPr/>
          <p:nvPr/>
        </p:nvSpPr>
        <p:spPr>
          <a:xfrm>
            <a:off x="1392000" y="-33777"/>
            <a:ext cx="3600000" cy="90000"/>
          </a:xfrm>
          <a:prstGeom prst="rect">
            <a:avLst/>
          </a:prstGeom>
          <a:solidFill>
            <a:srgbClr val="B81A1F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36595D-3359-62D4-3242-977655DF4CF3}"/>
              </a:ext>
            </a:extLst>
          </p:cNvPr>
          <p:cNvSpPr/>
          <p:nvPr/>
        </p:nvSpPr>
        <p:spPr>
          <a:xfrm>
            <a:off x="4992000" y="-33118"/>
            <a:ext cx="3600000" cy="90000"/>
          </a:xfrm>
          <a:prstGeom prst="rect">
            <a:avLst/>
          </a:prstGeom>
          <a:solidFill>
            <a:srgbClr val="E9500D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solidFill>
                <a:schemeClr val="accent2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7AFD78-499A-F8E3-8F83-6D8DA56D74B2}"/>
              </a:ext>
            </a:extLst>
          </p:cNvPr>
          <p:cNvSpPr/>
          <p:nvPr/>
        </p:nvSpPr>
        <p:spPr>
          <a:xfrm>
            <a:off x="8592000" y="-33777"/>
            <a:ext cx="3600000" cy="90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A7F886E-0480-123E-86EC-DE9F0F42D751}"/>
              </a:ext>
            </a:extLst>
          </p:cNvPr>
          <p:cNvCxnSpPr>
            <a:cxnSpLocks/>
          </p:cNvCxnSpPr>
          <p:nvPr/>
        </p:nvCxnSpPr>
        <p:spPr>
          <a:xfrm>
            <a:off x="1499140" y="5747189"/>
            <a:ext cx="10668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E9157A3-DA3A-B9D2-3740-F9D128FD0A65}"/>
              </a:ext>
            </a:extLst>
          </p:cNvPr>
          <p:cNvSpPr txBox="1"/>
          <p:nvPr/>
        </p:nvSpPr>
        <p:spPr>
          <a:xfrm>
            <a:off x="4866968" y="51914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E6E504-3476-6F0D-11D0-9B8CDC0826B4}"/>
              </a:ext>
            </a:extLst>
          </p:cNvPr>
          <p:cNvSpPr txBox="1"/>
          <p:nvPr/>
        </p:nvSpPr>
        <p:spPr>
          <a:xfrm>
            <a:off x="1969631" y="1884669"/>
            <a:ext cx="58275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Videos &amp; </a:t>
            </a:r>
            <a:r>
              <a:rPr lang="en-GB" dirty="0" err="1"/>
              <a:t>Onlinetest</a:t>
            </a:r>
            <a:r>
              <a:rPr lang="en-GB" dirty="0"/>
              <a:t> </a:t>
            </a:r>
            <a:r>
              <a:rPr lang="en-GB" dirty="0" err="1"/>
              <a:t>durchführen</a:t>
            </a:r>
            <a:r>
              <a:rPr lang="en-GB" dirty="0"/>
              <a:t>, </a:t>
            </a:r>
            <a:r>
              <a:rPr lang="en-GB" dirty="0" err="1"/>
              <a:t>vor</a:t>
            </a:r>
            <a:r>
              <a:rPr lang="en-GB" dirty="0"/>
              <a:t> </a:t>
            </a:r>
            <a:r>
              <a:rPr lang="en-GB" dirty="0" err="1"/>
              <a:t>jedem</a:t>
            </a:r>
            <a:r>
              <a:rPr lang="en-GB" dirty="0"/>
              <a:t> </a:t>
            </a:r>
            <a:r>
              <a:rPr lang="en-GB" dirty="0" err="1"/>
              <a:t>Praktikum</a:t>
            </a:r>
            <a:r>
              <a:rPr lang="en-GB" dirty="0"/>
              <a:t>.  </a:t>
            </a:r>
            <a:r>
              <a:rPr lang="en-GB" dirty="0" err="1"/>
              <a:t>Einführungsvideos</a:t>
            </a:r>
            <a:r>
              <a:rPr lang="en-GB" dirty="0"/>
              <a:t> </a:t>
            </a:r>
            <a:r>
              <a:rPr lang="en-GB" dirty="0" err="1"/>
              <a:t>ansehen</a:t>
            </a:r>
            <a:r>
              <a:rPr lang="en-GB" dirty="0"/>
              <a:t> und Test </a:t>
            </a:r>
            <a:r>
              <a:rPr lang="en-GB" dirty="0" err="1"/>
              <a:t>bestehen</a:t>
            </a:r>
            <a:r>
              <a:rPr lang="en-GB" dirty="0"/>
              <a:t>.</a:t>
            </a:r>
          </a:p>
          <a:p>
            <a:pPr marL="285750" indent="-285750">
              <a:buFontTx/>
              <a:buChar char="-"/>
            </a:pPr>
            <a:endParaRPr lang="en-DE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6AC1CD-7A14-9A89-A1C0-CB4044CBB73A}"/>
              </a:ext>
            </a:extLst>
          </p:cNvPr>
          <p:cNvSpPr txBox="1"/>
          <p:nvPr/>
        </p:nvSpPr>
        <p:spPr>
          <a:xfrm>
            <a:off x="2017767" y="2959133"/>
            <a:ext cx="58275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Versuchs</a:t>
            </a:r>
            <a:r>
              <a:rPr lang="en-GB" dirty="0"/>
              <a:t> </a:t>
            </a:r>
            <a:r>
              <a:rPr lang="en-GB" dirty="0" err="1"/>
              <a:t>Protokoll</a:t>
            </a:r>
            <a:r>
              <a:rPr lang="en-GB" dirty="0"/>
              <a:t> </a:t>
            </a:r>
            <a:r>
              <a:rPr lang="en-GB" dirty="0" err="1"/>
              <a:t>durchlesen</a:t>
            </a:r>
            <a:r>
              <a:rPr lang="en-GB" dirty="0"/>
              <a:t> und </a:t>
            </a:r>
            <a:r>
              <a:rPr lang="en-GB" dirty="0" err="1"/>
              <a:t>Vorbereitungsteil,vor</a:t>
            </a:r>
            <a:r>
              <a:rPr lang="en-GB" dirty="0"/>
              <a:t> </a:t>
            </a:r>
            <a:r>
              <a:rPr lang="en-GB" dirty="0" err="1"/>
              <a:t>jedem</a:t>
            </a:r>
            <a:r>
              <a:rPr lang="en-GB" dirty="0"/>
              <a:t> </a:t>
            </a:r>
            <a:r>
              <a:rPr lang="en-GB" dirty="0" err="1"/>
              <a:t>Praktikum</a:t>
            </a:r>
            <a:r>
              <a:rPr lang="en-GB" dirty="0"/>
              <a:t> </a:t>
            </a:r>
            <a:r>
              <a:rPr lang="en-GB" dirty="0" err="1"/>
              <a:t>Protokoll</a:t>
            </a:r>
            <a:r>
              <a:rPr lang="en-GB" dirty="0"/>
              <a:t> </a:t>
            </a:r>
            <a:r>
              <a:rPr lang="en-GB" dirty="0" err="1"/>
              <a:t>lesen</a:t>
            </a:r>
            <a:r>
              <a:rPr lang="en-GB" dirty="0"/>
              <a:t> und </a:t>
            </a:r>
            <a:r>
              <a:rPr lang="en-GB" dirty="0" err="1"/>
              <a:t>Vorbereitungsteil</a:t>
            </a:r>
            <a:r>
              <a:rPr lang="en-GB" dirty="0"/>
              <a:t> </a:t>
            </a:r>
            <a:r>
              <a:rPr lang="en-GB" dirty="0" err="1"/>
              <a:t>ausfüllen</a:t>
            </a:r>
            <a:r>
              <a:rPr lang="en-GB" dirty="0"/>
              <a:t>!</a:t>
            </a:r>
            <a:endParaRPr lang="en-DE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E6BBFC-5E25-382D-F131-CA72C946919E}"/>
              </a:ext>
            </a:extLst>
          </p:cNvPr>
          <p:cNvSpPr txBox="1"/>
          <p:nvPr/>
        </p:nvSpPr>
        <p:spPr>
          <a:xfrm>
            <a:off x="2017767" y="4211502"/>
            <a:ext cx="6005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Versuch </a:t>
            </a:r>
            <a:r>
              <a:rPr lang="en-GB" dirty="0" err="1"/>
              <a:t>Protokoll</a:t>
            </a:r>
            <a:r>
              <a:rPr lang="en-GB" dirty="0"/>
              <a:t> </a:t>
            </a:r>
            <a:r>
              <a:rPr lang="en-GB" dirty="0" err="1"/>
              <a:t>ausdrucken</a:t>
            </a:r>
            <a:r>
              <a:rPr lang="en-GB" dirty="0"/>
              <a:t>.</a:t>
            </a:r>
          </a:p>
          <a:p>
            <a:r>
              <a:rPr lang="en-GB" dirty="0"/>
              <a:t> </a:t>
            </a:r>
            <a:r>
              <a:rPr lang="en-GB" dirty="0" err="1"/>
              <a:t>Zeichenutensilien</a:t>
            </a:r>
            <a:r>
              <a:rPr lang="en-GB" dirty="0"/>
              <a:t>, </a:t>
            </a:r>
            <a:r>
              <a:rPr lang="en-GB" dirty="0" err="1"/>
              <a:t>Testat</a:t>
            </a:r>
            <a:r>
              <a:rPr lang="en-GB" dirty="0"/>
              <a:t>-Blatt, </a:t>
            </a:r>
            <a:r>
              <a:rPr lang="en-GB" dirty="0" err="1"/>
              <a:t>Taschenrechner</a:t>
            </a:r>
            <a:endParaRPr lang="en-DE" dirty="0"/>
          </a:p>
        </p:txBody>
      </p:sp>
      <p:pic>
        <p:nvPicPr>
          <p:cNvPr id="36" name="Graphic 35" descr="Vlog outline">
            <a:extLst>
              <a:ext uri="{FF2B5EF4-FFF2-40B4-BE49-F238E27FC236}">
                <a16:creationId xmlns:a16="http://schemas.microsoft.com/office/drawing/2014/main" id="{7D585327-A7EC-3FD0-53E3-84E8AE494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800" y="1780775"/>
            <a:ext cx="914400" cy="728197"/>
          </a:xfrm>
          <a:prstGeom prst="rect">
            <a:avLst/>
          </a:prstGeom>
        </p:spPr>
      </p:pic>
      <p:pic>
        <p:nvPicPr>
          <p:cNvPr id="38" name="Graphic 37" descr="Pen with solid fill">
            <a:extLst>
              <a:ext uri="{FF2B5EF4-FFF2-40B4-BE49-F238E27FC236}">
                <a16:creationId xmlns:a16="http://schemas.microsoft.com/office/drawing/2014/main" id="{68CCFABF-0C8E-5B4E-6EBA-AF38C9140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800" y="2897576"/>
            <a:ext cx="728198" cy="728198"/>
          </a:xfrm>
          <a:prstGeom prst="rect">
            <a:avLst/>
          </a:prstGeom>
        </p:spPr>
      </p:pic>
      <p:pic>
        <p:nvPicPr>
          <p:cNvPr id="40" name="Graphic 39" descr="Postit Notes 3 with solid fill">
            <a:extLst>
              <a:ext uri="{FF2B5EF4-FFF2-40B4-BE49-F238E27FC236}">
                <a16:creationId xmlns:a16="http://schemas.microsoft.com/office/drawing/2014/main" id="{DA8CA49D-60D9-1AC5-B8CB-846142ED94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8872" y="4195343"/>
            <a:ext cx="914400" cy="87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987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149</Words>
  <Application>Microsoft Macintosh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Wie läuft das Praktikum ab?</vt:lpstr>
      <vt:lpstr>Zeitlicher Ablauf</vt:lpstr>
      <vt:lpstr>Welche Vorbereitungen sind nötig?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Anton Wienken (pwienke1)</dc:creator>
  <cp:lastModifiedBy>Peter Anton Wienken (pwienke1)</cp:lastModifiedBy>
  <cp:revision>1</cp:revision>
  <dcterms:created xsi:type="dcterms:W3CDTF">2026-06-16T15:48:49Z</dcterms:created>
  <dcterms:modified xsi:type="dcterms:W3CDTF">2026-06-16T19:02:57Z</dcterms:modified>
</cp:coreProperties>
</file>